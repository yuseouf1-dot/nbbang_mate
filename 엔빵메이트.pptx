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Regular"/>
      <p:regular r:id="rId16"/>
    </p:embeddedFont>
    <p:embeddedFont>
      <p:font typeface="Pretendard Bold"/>
      <p:bold r:id="rId17"/>
    </p:embeddedFont>
    <p:embeddedFont>
      <p:font typeface="Pretendard ExtraLight"/>
      <p:regular r:id="rId18"/>
    </p:embeddedFont>
    <p:embeddedFont>
      <p:font typeface="Pretendard SemiBold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16000" y="939800"/>
            <a:ext cx="22174200" cy="11760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977900" y="-190500"/>
            <a:ext cx="22428200" cy="148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01000" y="12801600"/>
            <a:ext cx="8369300" cy="673100"/>
          </a:xfrm>
          <a:prstGeom prst="rect">
            <a:avLst/>
          </a:prstGeom>
        </p:spPr>
        <p:txBody>
          <a:bodyPr anchor="t" rtlCol="false" lIns="0" tIns="23706" rIns="0" bIns="0"/>
          <a:lstStyle/>
          <a:p>
            <a:pPr algn="ctr" lvl="0">
              <a:lnSpc>
                <a:spcPct val="107899"/>
              </a:lnSpc>
            </a:pPr>
            <a:r>
              <a:rPr lang="en-US" sz="37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발표자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 소프트웨어융합과  </a:t>
            </a:r>
            <a:r>
              <a:rPr lang="en-US" sz="3733" b="false" i="false" u="none" strike="noStrike">
                <a:solidFill>
                  <a:srgbClr val="C2C2C2"/>
                </a:solidFill>
                <a:latin typeface="Pretendard ExtraLight"/>
                <a:ea typeface="Pretendard ExtraLight"/>
                <a:cs typeface="Pretendard ExtraLight"/>
              </a:rPr>
              <a:t>|</a:t>
            </a:r>
            <a:r>
              <a:rPr lang="en-US" sz="373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 박세연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800" y="12839700"/>
            <a:ext cx="3441700" cy="5715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l" lvl="0">
              <a:lnSpc>
                <a:spcPct val="107899"/>
              </a:lnSpc>
            </a:pPr>
            <a:r>
              <a:rPr lang="en-US" sz="32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2026.06.24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686300" y="6057900"/>
            <a:ext cx="2413000" cy="166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333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176000" y="4000500"/>
          <a:ext cx="12192000" cy="5715000"/>
        </p:xfrm>
        <a:graphic>
          <a:graphicData uri="http://schemas.openxmlformats.org/drawingml/2006/table">
            <a:tbl>
              <a:tblPr/>
              <a:tblGrid>
                <a:gridCol w="2515571"/>
                <a:gridCol w="9676429"/>
              </a:tblGrid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01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기획 배경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02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기능 소개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05000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3999" b="false" i="false" u="none" strike="noStrike">
                          <a:solidFill>
                            <a:srgbClr val="C2C2C2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03</a:t>
                      </a:r>
                      <a:endParaRPr lang="en-US" sz="1100"/>
                    </a:p>
                  </a:txBody>
                  <a:tcPr anchor="ctr" marL="25400" marT="100328" marR="25400" marB="100328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266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시스템 전체 구성도및 기능 흐름</a:t>
                      </a:r>
                      <a:endParaRPr lang="en-US" sz="1100"/>
                    </a:p>
                  </a:txBody>
                  <a:tcPr anchor="ctr" marL="25400" marT="105324" marR="25400" marB="105324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538700" y="0"/>
            <a:ext cx="6400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기획 배경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026900" y="3873500"/>
          <a:ext cx="10414000" cy="6388100"/>
        </p:xfrm>
        <a:graphic>
          <a:graphicData uri="http://schemas.openxmlformats.org/drawingml/2006/table">
            <a:tbl>
              <a:tblPr/>
              <a:tblGrid>
                <a:gridCol w="10420195"/>
              </a:tblGrid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음식 배달을 시키기 위해서는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최소주문이라는 요건을 달성해야한다.</a:t>
                      </a:r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하지만, 최소주문을 만족해서 시키면 </a:t>
                      </a:r>
                      <a:endParaRPr lang="en-US" sz="1100"/>
                    </a:p>
                    <a:p>
                      <a:pPr algn="l" lvl="0">
                        <a:lnSpc>
                          <a:spcPct val="91714"/>
                        </a:lnSpc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혼자서 먹기에 양이 많다.</a:t>
                      </a:r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00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또한 배달비도 비싸 부담이 된다.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-76200"/>
            <a:ext cx="8026400" cy="1427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11400" y="11137900"/>
            <a:ext cx="1778000" cy="800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62800" y="6261100"/>
            <a:ext cx="17780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8300" y="596900"/>
            <a:ext cx="9169400" cy="12509500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026900" y="3873500"/>
          <a:ext cx="10414000" cy="6388100"/>
        </p:xfrm>
        <a:graphic>
          <a:graphicData uri="http://schemas.openxmlformats.org/drawingml/2006/table">
            <a:tbl>
              <a:tblPr/>
              <a:tblGrid>
                <a:gridCol w="10420195"/>
              </a:tblGrid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총 328명이 있는 영남대 기숙사 배달 톡방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배달을 같이 시킬 사람을 구하기 위해서 카카오톡 오픈채팅방에서 사람을 구해야한다는 번거로움 존재.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00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기숙사라는 공간적 제약 존재. 예를 들어 밤샘 공부를 하다가 도서관에서 야식을 시켜 먹고 경우 사용이 불가능.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538700" y="0"/>
            <a:ext cx="6400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기획 배경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2400300" y="1676400"/>
            <a:ext cx="14592300" cy="10287000"/>
          </a:xfrm>
          <a:prstGeom prst="rect">
            <a:avLst/>
          </a:prstGeom>
        </p:spPr>
      </p:pic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2954000" y="4203700"/>
          <a:ext cx="10414000" cy="6388100"/>
        </p:xfrm>
        <a:graphic>
          <a:graphicData uri="http://schemas.openxmlformats.org/drawingml/2006/table">
            <a:tbl>
              <a:tblPr/>
              <a:tblGrid>
                <a:gridCol w="10420195"/>
              </a:tblGrid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식당에 가서 혼자 밥을 먹고 싶지만 가게 사장님눈치가 보인다.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399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고깃집을 간다면 최소 3인분이상 주문해야된다.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9064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91714"/>
                        </a:lnSpc>
                        <a:defRPr/>
                      </a:pPr>
                      <a:r>
                        <a:rPr lang="en-US" sz="4400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바쁜 시간에는 식당에서 1인 고객을 꺼릴 수 있어, 자리를 찾기 어렵거나 오래 기다려야 할 수도 있다.</a:t>
                      </a:r>
                      <a:endParaRPr lang="en-US" sz="1100"/>
                    </a:p>
                  </a:txBody>
                  <a:tcPr anchor="ctr" marL="25400" marT="107822" marR="25400" marB="107822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 algn="ctr" cap="flat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7538700" y="0"/>
            <a:ext cx="6400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기획 배경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8135600" y="88900"/>
            <a:ext cx="5765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서비스 핵심 기능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2921000" y="2692400"/>
            <a:ext cx="939800" cy="5562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5400000">
            <a:off x="838200" y="2882900"/>
            <a:ext cx="4889500" cy="519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8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750300" y="2692400"/>
            <a:ext cx="927100" cy="55626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5400000">
            <a:off x="838200" y="2882900"/>
            <a:ext cx="16560800" cy="519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8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566900" y="2692400"/>
            <a:ext cx="939800" cy="5562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5400000">
            <a:off x="850900" y="2882900"/>
            <a:ext cx="28168600" cy="518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8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0396200" y="2692400"/>
            <a:ext cx="927100" cy="5562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5400000">
            <a:off x="838200" y="2882900"/>
            <a:ext cx="39839900" cy="5194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168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4635500" y="6807200"/>
            <a:ext cx="36195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464800" y="6807200"/>
            <a:ext cx="36068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6294100" y="6807200"/>
            <a:ext cx="36068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143000" y="5181600"/>
            <a:ext cx="353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74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72300" y="5181600"/>
            <a:ext cx="353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74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01600" y="5181600"/>
            <a:ext cx="353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74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618200" y="5181600"/>
            <a:ext cx="35306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74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6600" y="6832600"/>
            <a:ext cx="54737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41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회원가입과 로그인을 통해 웹 서비스에 접속한다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96800" y="6413500"/>
            <a:ext cx="5168900" cy="312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27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매칭 방을 만들어 같이 식당에서 밥을 먹거나 배달을 시킬 사람을 </a:t>
            </a:r>
          </a:p>
          <a:p>
            <a:pPr algn="l" lvl="0">
              <a:lnSpc>
                <a:spcPct val="120350"/>
              </a:lnSpc>
            </a:pPr>
            <a:r>
              <a:rPr lang="en-US" sz="427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구한다.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427700" y="6413500"/>
            <a:ext cx="5054600" cy="3314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545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채팅 기능과 </a:t>
            </a:r>
          </a:p>
          <a:p>
            <a:pPr algn="l" lvl="0">
              <a:lnSpc>
                <a:spcPct val="120350"/>
              </a:lnSpc>
            </a:pPr>
            <a:r>
              <a:rPr lang="en-US" sz="4545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웹 자체 n빵 시스템을 통해 방장에게 돈을 보내준다.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58000" y="6413500"/>
            <a:ext cx="5308600" cy="3124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27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음식 쇼츠를 시청해 </a:t>
            </a:r>
          </a:p>
          <a:p>
            <a:pPr algn="l" lvl="0">
              <a:lnSpc>
                <a:spcPct val="120350"/>
              </a:lnSpc>
            </a:pPr>
            <a:r>
              <a:rPr lang="en-US" sz="427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먹으러 가고 싶은 식당이나 배달 시키고 싶은 </a:t>
            </a:r>
          </a:p>
          <a:p>
            <a:pPr algn="l" lvl="0">
              <a:lnSpc>
                <a:spcPct val="120350"/>
              </a:lnSpc>
            </a:pPr>
            <a:r>
              <a:rPr lang="en-US" sz="427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식당을 탐색한다.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7900" y="-190500"/>
            <a:ext cx="22428200" cy="148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19200" y="698500"/>
            <a:ext cx="368300" cy="241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7653000" y="88900"/>
            <a:ext cx="65024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시스템 전체 구성도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46300" y="2108200"/>
            <a:ext cx="19100800" cy="10426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7900" y="-190500"/>
            <a:ext cx="22428200" cy="148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0" y="88900"/>
            <a:ext cx="5765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기능 순서 흐름도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200" y="2247900"/>
            <a:ext cx="11544300" cy="9017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819400" y="11366500"/>
            <a:ext cx="54737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41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로그인 순서 흐름도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21000" y="11480800"/>
            <a:ext cx="54737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41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회원가입 순서 흐름도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814300" y="2616200"/>
            <a:ext cx="11303000" cy="873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77900" y="-190500"/>
            <a:ext cx="22428200" cy="1485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857" b="false" i="false" u="none" strike="noStrike">
                <a:solidFill>
                  <a:srgbClr val="FAFAF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653000" y="88900"/>
            <a:ext cx="5765800" cy="1181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666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기능 순서 흐름도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19400" y="11366500"/>
            <a:ext cx="54737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41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로그인 순서 흐름도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48000" y="7404100"/>
            <a:ext cx="54737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0350"/>
              </a:lnSpc>
            </a:pPr>
            <a:r>
              <a:rPr lang="en-US" sz="4412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방 매칭 순서 흐름도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1663700"/>
            <a:ext cx="13068300" cy="1087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716000" y="7569200"/>
            <a:ext cx="9398000" cy="3810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0000" y="7556500"/>
            <a:ext cx="9398000" cy="3810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292600" y="6705600"/>
            <a:ext cx="33528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대조군/실험 집단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51300" y="6705600"/>
            <a:ext cx="3340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666" b="false" i="false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비교군/비교 집단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27300" y="3517900"/>
            <a:ext cx="19138900" cy="4470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838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이상으로 발표 내용을 마치며, </a:t>
            </a:r>
          </a:p>
          <a:p>
            <a:pPr algn="l" lvl="0">
              <a:lnSpc>
                <a:spcPct val="116199"/>
              </a:lnSpc>
            </a:pPr>
            <a:r>
              <a:rPr lang="en-US" sz="838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이어서 기능 시연을 진행하겠습니다. </a:t>
            </a:r>
          </a:p>
          <a:p>
            <a:pPr algn="l" lvl="0">
              <a:lnSpc>
                <a:spcPct val="116199"/>
              </a:lnSpc>
            </a:pPr>
            <a:r>
              <a:rPr lang="en-US" sz="8381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들어주셔서 감사합니다.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415000" y="7556500"/>
            <a:ext cx="5486400" cy="4749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